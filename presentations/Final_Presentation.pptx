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5"/>
  </p:notesMasterIdLst>
  <p:sldIdLst>
    <p:sldId id="256" r:id="rId5"/>
    <p:sldId id="257" r:id="rId6"/>
    <p:sldId id="259" r:id="rId7"/>
    <p:sldId id="261" r:id="rId8"/>
    <p:sldId id="266" r:id="rId9"/>
    <p:sldId id="270" r:id="rId10"/>
    <p:sldId id="271" r:id="rId11"/>
    <p:sldId id="272" r:id="rId12"/>
    <p:sldId id="264" r:id="rId13"/>
    <p:sldId id="265" r:id="rId14"/>
  </p:sldIdLst>
  <p:sldSz cx="18288000" cy="10287000"/>
  <p:notesSz cx="6858000" cy="9144000"/>
  <p:embeddedFontLst>
    <p:embeddedFont>
      <p:font typeface="Anton" pitchFamily="2" charset="0"/>
      <p:regular r:id="rId16"/>
    </p:embeddedFont>
    <p:embeddedFont>
      <p:font typeface="Fraunces Italics" panose="020B0604020202020204" charset="0"/>
      <p:regular r:id="rId17"/>
      <p:italic r:id="rId18"/>
    </p:embeddedFont>
    <p:embeddedFont>
      <p:font typeface="Poppins" panose="00000500000000000000" pitchFamily="2" charset="0"/>
      <p:regular r:id="rId19"/>
      <p:bold r:id="rId20"/>
      <p:italic r:id="rId21"/>
      <p:boldItalic r:id="rId22"/>
    </p:embeddedFont>
    <p:embeddedFont>
      <p:font typeface="Poppins Bold" panose="00000800000000000000" charset="0"/>
      <p:regular r:id="rId23"/>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3C9861-009A-487A-8BB1-2C06341681C9}" v="142" dt="2026-05-03T10:20:13.3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327" autoAdjust="0"/>
  </p:normalViewPr>
  <p:slideViewPr>
    <p:cSldViewPr snapToGrid="0">
      <p:cViewPr varScale="1">
        <p:scale>
          <a:sx n="50" d="100"/>
          <a:sy n="50" d="100"/>
        </p:scale>
        <p:origin x="946" y="3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3.fntdata"/><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font" Target="fonts/font5.fntdata"/><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9.fntdata"/><Relationship Id="rId5" Type="http://schemas.openxmlformats.org/officeDocument/2006/relationships/slide" Target="slides/slide1.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7.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L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4B0F57-4C1F-5F41-9734-3DAF6289DE85}" type="datetimeFigureOut">
              <a:rPr lang="en-LK" smtClean="0"/>
              <a:t>05/04/2026</a:t>
            </a:fld>
            <a:endParaRPr lang="en-L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L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L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12C36D-6F08-ED43-9A8A-6319B9852285}" type="slidenum">
              <a:rPr lang="en-LK" smtClean="0"/>
              <a:t>‹#›</a:t>
            </a:fld>
            <a:endParaRPr lang="en-LK"/>
          </a:p>
        </p:txBody>
      </p:sp>
    </p:spTree>
    <p:extLst>
      <p:ext uri="{BB962C8B-B14F-4D97-AF65-F5344CB8AC3E}">
        <p14:creationId xmlns:p14="http://schemas.microsoft.com/office/powerpoint/2010/main" val="3452117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LK"/>
          </a:p>
        </p:txBody>
      </p:sp>
      <p:sp>
        <p:nvSpPr>
          <p:cNvPr id="3" name="Freeform 3"/>
          <p:cNvSpPr/>
          <p:nvPr/>
        </p:nvSpPr>
        <p:spPr>
          <a:xfrm>
            <a:off x="7677044" y="1375545"/>
            <a:ext cx="2589484" cy="2589484"/>
          </a:xfrm>
          <a:custGeom>
            <a:avLst/>
            <a:gdLst/>
            <a:ahLst/>
            <a:cxnLst/>
            <a:rect l="l" t="t" r="r" b="b"/>
            <a:pathLst>
              <a:path w="2589484" h="2589484">
                <a:moveTo>
                  <a:pt x="0" y="0"/>
                </a:moveTo>
                <a:lnTo>
                  <a:pt x="2589484" y="0"/>
                </a:lnTo>
                <a:lnTo>
                  <a:pt x="2589484" y="2589484"/>
                </a:lnTo>
                <a:lnTo>
                  <a:pt x="0" y="25894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LK"/>
          </a:p>
        </p:txBody>
      </p:sp>
      <p:grpSp>
        <p:nvGrpSpPr>
          <p:cNvPr id="4" name="Group 4"/>
          <p:cNvGrpSpPr/>
          <p:nvPr/>
        </p:nvGrpSpPr>
        <p:grpSpPr>
          <a:xfrm>
            <a:off x="1785274" y="6142259"/>
            <a:ext cx="14717453" cy="2214690"/>
            <a:chOff x="0" y="0"/>
            <a:chExt cx="3876202" cy="583293"/>
          </a:xfrm>
        </p:grpSpPr>
        <p:sp>
          <p:nvSpPr>
            <p:cNvPr id="5" name="Freeform 5"/>
            <p:cNvSpPr/>
            <p:nvPr/>
          </p:nvSpPr>
          <p:spPr>
            <a:xfrm>
              <a:off x="0" y="0"/>
              <a:ext cx="3876201" cy="583293"/>
            </a:xfrm>
            <a:custGeom>
              <a:avLst/>
              <a:gdLst/>
              <a:ahLst/>
              <a:cxnLst/>
              <a:rect l="l" t="t" r="r" b="b"/>
              <a:pathLst>
                <a:path w="3876201" h="583293">
                  <a:moveTo>
                    <a:pt x="22620" y="0"/>
                  </a:moveTo>
                  <a:lnTo>
                    <a:pt x="3853582" y="0"/>
                  </a:lnTo>
                  <a:cubicBezTo>
                    <a:pt x="3859581" y="0"/>
                    <a:pt x="3865334" y="2383"/>
                    <a:pt x="3869576" y="6625"/>
                  </a:cubicBezTo>
                  <a:cubicBezTo>
                    <a:pt x="3873818" y="10867"/>
                    <a:pt x="3876201" y="16620"/>
                    <a:pt x="3876201" y="22620"/>
                  </a:cubicBezTo>
                  <a:lnTo>
                    <a:pt x="3876201" y="560673"/>
                  </a:lnTo>
                  <a:cubicBezTo>
                    <a:pt x="3876201" y="573166"/>
                    <a:pt x="3866074" y="583293"/>
                    <a:pt x="3853582" y="583293"/>
                  </a:cubicBezTo>
                  <a:lnTo>
                    <a:pt x="22620" y="583293"/>
                  </a:lnTo>
                  <a:cubicBezTo>
                    <a:pt x="16620" y="583293"/>
                    <a:pt x="10867" y="580910"/>
                    <a:pt x="6625" y="576668"/>
                  </a:cubicBezTo>
                  <a:cubicBezTo>
                    <a:pt x="2383" y="572426"/>
                    <a:pt x="0" y="566672"/>
                    <a:pt x="0" y="560673"/>
                  </a:cubicBezTo>
                  <a:lnTo>
                    <a:pt x="0" y="22620"/>
                  </a:lnTo>
                  <a:cubicBezTo>
                    <a:pt x="0" y="16620"/>
                    <a:pt x="2383" y="10867"/>
                    <a:pt x="6625" y="6625"/>
                  </a:cubicBezTo>
                  <a:cubicBezTo>
                    <a:pt x="10867" y="2383"/>
                    <a:pt x="16620" y="0"/>
                    <a:pt x="22620" y="0"/>
                  </a:cubicBezTo>
                  <a:close/>
                </a:path>
              </a:pathLst>
            </a:custGeom>
            <a:gradFill rotWithShape="1">
              <a:gsLst>
                <a:gs pos="0">
                  <a:srgbClr val="7E310B">
                    <a:alpha val="100000"/>
                  </a:srgbClr>
                </a:gs>
                <a:gs pos="100000">
                  <a:srgbClr val="BF5600">
                    <a:alpha val="100000"/>
                  </a:srgbClr>
                </a:gs>
              </a:gsLst>
              <a:lin ang="0"/>
            </a:gradFill>
          </p:spPr>
          <p:txBody>
            <a:bodyPr/>
            <a:lstStyle/>
            <a:p>
              <a:endParaRPr lang="en-LK"/>
            </a:p>
          </p:txBody>
        </p:sp>
        <p:sp>
          <p:nvSpPr>
            <p:cNvPr id="6" name="TextBox 6"/>
            <p:cNvSpPr txBox="1"/>
            <p:nvPr/>
          </p:nvSpPr>
          <p:spPr>
            <a:xfrm>
              <a:off x="0" y="-38100"/>
              <a:ext cx="3876202" cy="621393"/>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4567811" y="3662762"/>
            <a:ext cx="8807949" cy="2479497"/>
          </a:xfrm>
          <a:prstGeom prst="rect">
            <a:avLst/>
          </a:prstGeom>
        </p:spPr>
        <p:txBody>
          <a:bodyPr lIns="0" tIns="0" rIns="0" bIns="0" rtlCol="0" anchor="t">
            <a:spAutoFit/>
          </a:bodyPr>
          <a:lstStyle/>
          <a:p>
            <a:pPr algn="ctr">
              <a:lnSpc>
                <a:spcPts val="20309"/>
              </a:lnSpc>
              <a:spcBef>
                <a:spcPct val="0"/>
              </a:spcBef>
            </a:pPr>
            <a:r>
              <a:rPr lang="en-US" sz="14507">
                <a:solidFill>
                  <a:srgbClr val="FFFFFF"/>
                </a:solidFill>
                <a:latin typeface="Anton"/>
                <a:ea typeface="Anton"/>
                <a:cs typeface="Anton"/>
                <a:sym typeface="Anton"/>
              </a:rPr>
              <a:t>LEGALVISION</a:t>
            </a:r>
          </a:p>
        </p:txBody>
      </p:sp>
      <p:sp>
        <p:nvSpPr>
          <p:cNvPr id="8" name="TextBox 8"/>
          <p:cNvSpPr txBox="1"/>
          <p:nvPr/>
        </p:nvSpPr>
        <p:spPr>
          <a:xfrm>
            <a:off x="218457" y="6490751"/>
            <a:ext cx="17851087" cy="2420703"/>
          </a:xfrm>
          <a:prstGeom prst="rect">
            <a:avLst/>
          </a:prstGeom>
        </p:spPr>
        <p:txBody>
          <a:bodyPr lIns="0" tIns="0" rIns="0" bIns="0" rtlCol="0" anchor="t">
            <a:spAutoFit/>
          </a:bodyPr>
          <a:lstStyle/>
          <a:p>
            <a:pPr algn="ctr">
              <a:lnSpc>
                <a:spcPts val="6327"/>
              </a:lnSpc>
            </a:pPr>
            <a:r>
              <a:rPr lang="en-US" sz="5968" i="1" spc="-208">
                <a:solidFill>
                  <a:srgbClr val="FFFFFF"/>
                </a:solidFill>
                <a:latin typeface="Fraunces Italics"/>
                <a:ea typeface="Fraunces Italics"/>
                <a:cs typeface="Fraunces Italics"/>
                <a:sym typeface="Fraunces Italics"/>
              </a:rPr>
              <a:t>A Knowledge-Driven AI Framework for Legal Understanding and Trust Assessment</a:t>
            </a:r>
          </a:p>
          <a:p>
            <a:pPr algn="ctr">
              <a:lnSpc>
                <a:spcPts val="6327"/>
              </a:lnSpc>
            </a:pPr>
            <a:endParaRPr lang="en-US" sz="5968" i="1" spc="-208">
              <a:solidFill>
                <a:srgbClr val="FFFFFF"/>
              </a:solidFill>
              <a:latin typeface="Fraunces Italics"/>
              <a:ea typeface="Fraunces Italics"/>
              <a:cs typeface="Fraunces Italics"/>
              <a:sym typeface="Fraunces Itali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8756" b="-8077"/>
            </a:stretch>
          </a:blipFill>
        </p:spPr>
        <p:txBody>
          <a:bodyPr/>
          <a:lstStyle/>
          <a:p>
            <a:endParaRPr lang="en-LK"/>
          </a:p>
        </p:txBody>
      </p:sp>
      <p:grpSp>
        <p:nvGrpSpPr>
          <p:cNvPr id="3" name="Group 3"/>
          <p:cNvGrpSpPr/>
          <p:nvPr/>
        </p:nvGrpSpPr>
        <p:grpSpPr>
          <a:xfrm>
            <a:off x="1028700" y="1028700"/>
            <a:ext cx="16230600" cy="8229600"/>
            <a:chOff x="0" y="0"/>
            <a:chExt cx="4274726" cy="2167467"/>
          </a:xfrm>
        </p:grpSpPr>
        <p:sp>
          <p:nvSpPr>
            <p:cNvPr id="4" name="Freeform 4"/>
            <p:cNvSpPr/>
            <p:nvPr/>
          </p:nvSpPr>
          <p:spPr>
            <a:xfrm>
              <a:off x="0" y="0"/>
              <a:ext cx="4274726" cy="2167467"/>
            </a:xfrm>
            <a:custGeom>
              <a:avLst/>
              <a:gdLst/>
              <a:ahLst/>
              <a:cxnLst/>
              <a:rect l="l" t="t" r="r" b="b"/>
              <a:pathLst>
                <a:path w="4274726" h="2167467">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FFFFF">
                <a:alpha val="83922"/>
              </a:srgbClr>
            </a:solidFill>
          </p:spPr>
          <p:txBody>
            <a:bodyPr/>
            <a:lstStyle/>
            <a:p>
              <a:endParaRPr lang="en-LK"/>
            </a:p>
          </p:txBody>
        </p:sp>
        <p:sp>
          <p:nvSpPr>
            <p:cNvPr id="5" name="TextBox 5"/>
            <p:cNvSpPr txBox="1"/>
            <p:nvPr/>
          </p:nvSpPr>
          <p:spPr>
            <a:xfrm>
              <a:off x="0" y="-38100"/>
              <a:ext cx="4274726" cy="2205567"/>
            </a:xfrm>
            <a:prstGeom prst="rect">
              <a:avLst/>
            </a:prstGeom>
          </p:spPr>
          <p:txBody>
            <a:bodyPr lIns="50800" tIns="50800" rIns="50800" bIns="50800" rtlCol="0" anchor="ctr"/>
            <a:lstStyle/>
            <a:p>
              <a:pPr algn="ctr">
                <a:lnSpc>
                  <a:spcPts val="2799"/>
                </a:lnSpc>
              </a:pPr>
              <a:endParaRPr/>
            </a:p>
          </p:txBody>
        </p:sp>
      </p:grpSp>
      <p:sp>
        <p:nvSpPr>
          <p:cNvPr id="6" name="TextBox 6"/>
          <p:cNvSpPr txBox="1"/>
          <p:nvPr/>
        </p:nvSpPr>
        <p:spPr>
          <a:xfrm>
            <a:off x="3312785" y="3574443"/>
            <a:ext cx="11662429" cy="2282676"/>
          </a:xfrm>
          <a:prstGeom prst="rect">
            <a:avLst/>
          </a:prstGeom>
        </p:spPr>
        <p:txBody>
          <a:bodyPr lIns="0" tIns="0" rIns="0" bIns="0" rtlCol="0" anchor="t">
            <a:spAutoFit/>
          </a:bodyPr>
          <a:lstStyle/>
          <a:p>
            <a:pPr algn="ctr">
              <a:lnSpc>
                <a:spcPts val="8930"/>
              </a:lnSpc>
            </a:pPr>
            <a:r>
              <a:rPr lang="en-US" sz="7902">
                <a:solidFill>
                  <a:srgbClr val="7E310B"/>
                </a:solidFill>
                <a:latin typeface="Anton"/>
                <a:ea typeface="Anton"/>
                <a:cs typeface="Anton"/>
                <a:sym typeface="Anton"/>
              </a:rPr>
              <a:t>IT4010 </a:t>
            </a:r>
          </a:p>
          <a:p>
            <a:pPr algn="ctr">
              <a:lnSpc>
                <a:spcPts val="8930"/>
              </a:lnSpc>
            </a:pPr>
            <a:r>
              <a:rPr lang="en-US" sz="7902">
                <a:solidFill>
                  <a:srgbClr val="7E310B"/>
                </a:solidFill>
                <a:latin typeface="Anton"/>
                <a:ea typeface="Anton"/>
                <a:cs typeface="Anton"/>
                <a:sym typeface="Anton"/>
              </a:rPr>
              <a:t>Final Evaluation</a:t>
            </a:r>
          </a:p>
        </p:txBody>
      </p:sp>
      <p:sp>
        <p:nvSpPr>
          <p:cNvPr id="7" name="TextBox 7"/>
          <p:cNvSpPr txBox="1"/>
          <p:nvPr/>
        </p:nvSpPr>
        <p:spPr>
          <a:xfrm>
            <a:off x="7254417" y="6793352"/>
            <a:ext cx="3779166" cy="677545"/>
          </a:xfrm>
          <a:prstGeom prst="rect">
            <a:avLst/>
          </a:prstGeom>
        </p:spPr>
        <p:txBody>
          <a:bodyPr lIns="0" tIns="0" rIns="0" bIns="0" rtlCol="0" anchor="t">
            <a:spAutoFit/>
          </a:bodyPr>
          <a:lstStyle/>
          <a:p>
            <a:pPr algn="ctr">
              <a:lnSpc>
                <a:spcPts val="5179"/>
              </a:lnSpc>
            </a:pPr>
            <a:r>
              <a:rPr lang="en-US" sz="3699" b="1">
                <a:solidFill>
                  <a:srgbClr val="7E310B"/>
                </a:solidFill>
                <a:latin typeface="Poppins Bold"/>
                <a:ea typeface="Poppins Bold"/>
                <a:cs typeface="Poppins Bold"/>
                <a:sym typeface="Poppins Bold"/>
              </a:rPr>
              <a:t>25-26J-127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5"/>
          <p:cNvGrpSpPr/>
          <p:nvPr/>
        </p:nvGrpSpPr>
        <p:grpSpPr>
          <a:xfrm rot="-5400000">
            <a:off x="5567155" y="-2289161"/>
            <a:ext cx="7339441" cy="15663852"/>
            <a:chOff x="0" y="0"/>
            <a:chExt cx="597519" cy="480471"/>
          </a:xfrm>
        </p:grpSpPr>
        <p:sp>
          <p:nvSpPr>
            <p:cNvPr id="16" name="Freeform 16"/>
            <p:cNvSpPr/>
            <p:nvPr/>
          </p:nvSpPr>
          <p:spPr>
            <a:xfrm>
              <a:off x="0" y="0"/>
              <a:ext cx="597519" cy="480471"/>
            </a:xfrm>
            <a:custGeom>
              <a:avLst/>
              <a:gdLst/>
              <a:ahLst/>
              <a:cxnLst/>
              <a:rect l="l" t="t" r="r" b="b"/>
              <a:pathLst>
                <a:path w="597519" h="480471">
                  <a:moveTo>
                    <a:pt x="20058" y="0"/>
                  </a:moveTo>
                  <a:lnTo>
                    <a:pt x="577461" y="0"/>
                  </a:lnTo>
                  <a:cubicBezTo>
                    <a:pt x="588538" y="0"/>
                    <a:pt x="597519" y="8980"/>
                    <a:pt x="597519" y="20058"/>
                  </a:cubicBezTo>
                  <a:lnTo>
                    <a:pt x="597519" y="460413"/>
                  </a:lnTo>
                  <a:cubicBezTo>
                    <a:pt x="597519" y="471491"/>
                    <a:pt x="588538" y="480471"/>
                    <a:pt x="577461" y="480471"/>
                  </a:cubicBezTo>
                  <a:lnTo>
                    <a:pt x="20058" y="480471"/>
                  </a:lnTo>
                  <a:cubicBezTo>
                    <a:pt x="8980" y="480471"/>
                    <a:pt x="0" y="471491"/>
                    <a:pt x="0" y="460413"/>
                  </a:cubicBezTo>
                  <a:lnTo>
                    <a:pt x="0" y="20058"/>
                  </a:lnTo>
                  <a:cubicBezTo>
                    <a:pt x="0" y="8980"/>
                    <a:pt x="8980" y="0"/>
                    <a:pt x="20058" y="0"/>
                  </a:cubicBezTo>
                  <a:close/>
                </a:path>
              </a:pathLst>
            </a:custGeom>
            <a:solidFill>
              <a:srgbClr val="7E310B"/>
            </a:solidFill>
          </p:spPr>
          <p:txBody>
            <a:bodyPr/>
            <a:lstStyle/>
            <a:p>
              <a:endParaRPr lang="en-LK"/>
            </a:p>
          </p:txBody>
        </p:sp>
        <p:sp>
          <p:nvSpPr>
            <p:cNvPr id="17" name="TextBox 17"/>
            <p:cNvSpPr txBox="1"/>
            <p:nvPr/>
          </p:nvSpPr>
          <p:spPr>
            <a:xfrm>
              <a:off x="0" y="-38100"/>
              <a:ext cx="597519" cy="518571"/>
            </a:xfrm>
            <a:prstGeom prst="rect">
              <a:avLst/>
            </a:prstGeom>
          </p:spPr>
          <p:txBody>
            <a:bodyPr lIns="50800" tIns="50800" rIns="50800" bIns="50800" rtlCol="0" anchor="ctr"/>
            <a:lstStyle/>
            <a:p>
              <a:pPr algn="ctr">
                <a:lnSpc>
                  <a:spcPts val="2799"/>
                </a:lnSpc>
              </a:pPr>
              <a:endParaRPr/>
            </a:p>
          </p:txBody>
        </p:sp>
      </p:grpSp>
      <p:sp>
        <p:nvSpPr>
          <p:cNvPr id="19" name="TextBox 19"/>
          <p:cNvSpPr txBox="1"/>
          <p:nvPr/>
        </p:nvSpPr>
        <p:spPr>
          <a:xfrm>
            <a:off x="1404949" y="503845"/>
            <a:ext cx="15922977" cy="1141338"/>
          </a:xfrm>
          <a:prstGeom prst="rect">
            <a:avLst/>
          </a:prstGeom>
        </p:spPr>
        <p:txBody>
          <a:bodyPr wrap="square" lIns="0" tIns="0" rIns="0" bIns="0" rtlCol="0" anchor="t">
            <a:spAutoFit/>
          </a:bodyPr>
          <a:lstStyle/>
          <a:p>
            <a:pPr algn="ctr">
              <a:lnSpc>
                <a:spcPts val="8930"/>
              </a:lnSpc>
            </a:pPr>
            <a:r>
              <a:rPr lang="en-US" sz="7902" dirty="0">
                <a:solidFill>
                  <a:srgbClr val="7E310B"/>
                </a:solidFill>
                <a:latin typeface="Anton"/>
                <a:ea typeface="Anton"/>
                <a:cs typeface="Anton"/>
                <a:sym typeface="Anton"/>
              </a:rPr>
              <a:t>PP2 COMMENTS &amp; ACTIONS TAKEN  </a:t>
            </a:r>
          </a:p>
        </p:txBody>
      </p:sp>
      <p:graphicFrame>
        <p:nvGraphicFramePr>
          <p:cNvPr id="20" name="Table 19">
            <a:extLst>
              <a:ext uri="{FF2B5EF4-FFF2-40B4-BE49-F238E27FC236}">
                <a16:creationId xmlns:a16="http://schemas.microsoft.com/office/drawing/2014/main" id="{C9B24CE3-8BA3-433F-B17D-591551E3741C}"/>
              </a:ext>
            </a:extLst>
          </p:cNvPr>
          <p:cNvGraphicFramePr>
            <a:graphicFrameLocks noGrp="1"/>
          </p:cNvGraphicFramePr>
          <p:nvPr>
            <p:extLst>
              <p:ext uri="{D42A27DB-BD31-4B8C-83A1-F6EECF244321}">
                <p14:modId xmlns:p14="http://schemas.microsoft.com/office/powerpoint/2010/main" val="689288017"/>
              </p:ext>
            </p:extLst>
          </p:nvPr>
        </p:nvGraphicFramePr>
        <p:xfrm>
          <a:off x="1709749" y="2092985"/>
          <a:ext cx="16073728" cy="7780873"/>
        </p:xfrm>
        <a:graphic>
          <a:graphicData uri="http://schemas.openxmlformats.org/drawingml/2006/table">
            <a:tbl>
              <a:tblPr firstRow="1" bandRow="1">
                <a:tableStyleId>{08FB837D-C827-4EFA-A057-4D05807E0F7C}</a:tableStyleId>
              </a:tblPr>
              <a:tblGrid>
                <a:gridCol w="2426664">
                  <a:extLst>
                    <a:ext uri="{9D8B030D-6E8A-4147-A177-3AD203B41FA5}">
                      <a16:colId xmlns:a16="http://schemas.microsoft.com/office/drawing/2014/main" val="929105244"/>
                    </a:ext>
                  </a:extLst>
                </a:gridCol>
                <a:gridCol w="3133067">
                  <a:extLst>
                    <a:ext uri="{9D8B030D-6E8A-4147-A177-3AD203B41FA5}">
                      <a16:colId xmlns:a16="http://schemas.microsoft.com/office/drawing/2014/main" val="2679808033"/>
                    </a:ext>
                  </a:extLst>
                </a:gridCol>
                <a:gridCol w="10513997">
                  <a:extLst>
                    <a:ext uri="{9D8B030D-6E8A-4147-A177-3AD203B41FA5}">
                      <a16:colId xmlns:a16="http://schemas.microsoft.com/office/drawing/2014/main" val="1028566602"/>
                    </a:ext>
                  </a:extLst>
                </a:gridCol>
              </a:tblGrid>
              <a:tr h="567908">
                <a:tc>
                  <a:txBody>
                    <a:bodyPr/>
                    <a:lstStyle/>
                    <a:p>
                      <a:pPr algn="ctr"/>
                      <a:r>
                        <a:rPr lang="en-US" sz="2800" dirty="0">
                          <a:latin typeface="Poppins" panose="00000500000000000000" pitchFamily="2" charset="0"/>
                          <a:cs typeface="Poppins" panose="00000500000000000000" pitchFamily="2" charset="0"/>
                        </a:rPr>
                        <a:t>IT number</a:t>
                      </a:r>
                    </a:p>
                  </a:txBody>
                  <a:tcPr/>
                </a:tc>
                <a:tc>
                  <a:txBody>
                    <a:bodyPr/>
                    <a:lstStyle/>
                    <a:p>
                      <a:pPr algn="ctr"/>
                      <a:r>
                        <a:rPr lang="en-US" sz="2800" dirty="0">
                          <a:latin typeface="Poppins" panose="00000500000000000000" pitchFamily="2" charset="0"/>
                          <a:cs typeface="Poppins" panose="00000500000000000000" pitchFamily="2" charset="0"/>
                        </a:rPr>
                        <a:t>PP2 Comment</a:t>
                      </a:r>
                    </a:p>
                  </a:txBody>
                  <a:tcPr/>
                </a:tc>
                <a:tc>
                  <a:txBody>
                    <a:bodyPr/>
                    <a:lstStyle/>
                    <a:p>
                      <a:pPr algn="ctr"/>
                      <a:r>
                        <a:rPr lang="en-US" sz="2800">
                          <a:latin typeface="Poppins" panose="00000500000000000000" pitchFamily="2" charset="0"/>
                          <a:cs typeface="Poppins" panose="00000500000000000000" pitchFamily="2" charset="0"/>
                        </a:rPr>
                        <a:t>Actions Taken</a:t>
                      </a:r>
                    </a:p>
                  </a:txBody>
                  <a:tcPr/>
                </a:tc>
                <a:extLst>
                  <a:ext uri="{0D108BD9-81ED-4DB2-BD59-A6C34878D82A}">
                    <a16:rowId xmlns:a16="http://schemas.microsoft.com/office/drawing/2014/main" val="1810532878"/>
                  </a:ext>
                </a:extLst>
              </a:tr>
              <a:tr h="1554265">
                <a:tc>
                  <a:txBody>
                    <a:bodyPr/>
                    <a:lstStyle/>
                    <a:p>
                      <a:pPr algn="ctr">
                        <a:lnSpc>
                          <a:spcPct val="150000"/>
                        </a:lnSpc>
                      </a:pPr>
                      <a:r>
                        <a:rPr lang="en-US" sz="2200" dirty="0">
                          <a:solidFill>
                            <a:schemeClr val="accent6">
                              <a:lumMod val="50000"/>
                            </a:schemeClr>
                          </a:solidFill>
                          <a:latin typeface="Poppins" panose="00000500000000000000" pitchFamily="2" charset="0"/>
                          <a:cs typeface="Poppins" panose="00000500000000000000" pitchFamily="2" charset="0"/>
                        </a:rPr>
                        <a:t>IT22732736</a:t>
                      </a:r>
                    </a:p>
                  </a:txBody>
                  <a:tcPr/>
                </a:tc>
                <a:tc>
                  <a:txBody>
                    <a:bodyPr/>
                    <a:lstStyle/>
                    <a:p>
                      <a:pPr algn="l">
                        <a:lnSpc>
                          <a:spcPct val="150000"/>
                        </a:lnSpc>
                      </a:pPr>
                      <a:r>
                        <a:rPr lang="en-US" sz="2200" b="0" kern="1200" dirty="0">
                          <a:solidFill>
                            <a:schemeClr val="accent6">
                              <a:lumMod val="50000"/>
                            </a:schemeClr>
                          </a:solidFill>
                          <a:effectLst/>
                          <a:latin typeface="Poppins" panose="00000500000000000000" pitchFamily="2" charset="0"/>
                          <a:cs typeface="Poppins" panose="00000500000000000000" pitchFamily="2" charset="0"/>
                        </a:rPr>
                        <a:t>Validate the model whether nodes are being formed correctly</a:t>
                      </a:r>
                      <a:endParaRPr lang="en-US" sz="2200" dirty="0">
                        <a:solidFill>
                          <a:schemeClr val="accent6">
                            <a:lumMod val="50000"/>
                          </a:schemeClr>
                        </a:solidFill>
                        <a:latin typeface="Poppins" panose="00000500000000000000" pitchFamily="2" charset="0"/>
                        <a:cs typeface="Poppins" panose="00000500000000000000" pitchFamily="2" charset="0"/>
                      </a:endParaRP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200" dirty="0">
                          <a:solidFill>
                            <a:schemeClr val="accent6">
                              <a:lumMod val="50000"/>
                            </a:schemeClr>
                          </a:solidFill>
                          <a:latin typeface="Poppins" panose="00000500000000000000" pitchFamily="2" charset="0"/>
                          <a:cs typeface="Poppins" panose="00000500000000000000" pitchFamily="2" charset="0"/>
                        </a:rPr>
                        <a:t>Validated Neo4j node and relationship creation using sample deed records. Checked key nodes such as Instrument, Party, Property, Plan, Statute, Legal Principle, and Requirement. Verified relationship mapping and improved graph consistency</a:t>
                      </a:r>
                      <a:r>
                        <a:rPr lang="en-US" sz="2400" dirty="0"/>
                        <a:t>.</a:t>
                      </a:r>
                      <a:endParaRPr lang="en-US" sz="2800" dirty="0">
                        <a:solidFill>
                          <a:schemeClr val="accent6">
                            <a:lumMod val="50000"/>
                          </a:schemeClr>
                        </a:solidFill>
                        <a:latin typeface="Poppins" panose="00000500000000000000" pitchFamily="2" charset="0"/>
                        <a:cs typeface="Poppins" panose="00000500000000000000" pitchFamily="2" charset="0"/>
                      </a:endParaRPr>
                    </a:p>
                  </a:txBody>
                  <a:tcPr/>
                </a:tc>
                <a:extLst>
                  <a:ext uri="{0D108BD9-81ED-4DB2-BD59-A6C34878D82A}">
                    <a16:rowId xmlns:a16="http://schemas.microsoft.com/office/drawing/2014/main" val="990679882"/>
                  </a:ext>
                </a:extLst>
              </a:tr>
              <a:tr h="1185457">
                <a:tc>
                  <a:txBody>
                    <a:bodyPr/>
                    <a:lstStyle/>
                    <a:p>
                      <a:pPr algn="ctr">
                        <a:lnSpc>
                          <a:spcPct val="150000"/>
                        </a:lnSpc>
                      </a:pPr>
                      <a:r>
                        <a:rPr lang="en-US" sz="2200" dirty="0">
                          <a:solidFill>
                            <a:schemeClr val="accent6">
                              <a:lumMod val="50000"/>
                            </a:schemeClr>
                          </a:solidFill>
                          <a:latin typeface="Poppins" panose="00000500000000000000" pitchFamily="2" charset="0"/>
                          <a:cs typeface="Poppins" panose="00000500000000000000" pitchFamily="2" charset="0"/>
                        </a:rPr>
                        <a:t>IT22348784</a:t>
                      </a:r>
                    </a:p>
                  </a:txBody>
                  <a:tcPr/>
                </a:tc>
                <a:tc>
                  <a:txBody>
                    <a:bodyPr/>
                    <a:lstStyle/>
                    <a:p>
                      <a:pPr algn="l">
                        <a:lnSpc>
                          <a:spcPct val="150000"/>
                        </a:lnSpc>
                      </a:pPr>
                      <a:r>
                        <a:rPr lang="en-US" sz="2200" b="0" kern="1200" dirty="0">
                          <a:solidFill>
                            <a:schemeClr val="accent6">
                              <a:lumMod val="50000"/>
                            </a:schemeClr>
                          </a:solidFill>
                          <a:effectLst/>
                          <a:latin typeface="Poppins" panose="00000500000000000000" pitchFamily="2" charset="0"/>
                          <a:cs typeface="Poppins" panose="00000500000000000000" pitchFamily="2" charset="0"/>
                        </a:rPr>
                        <a:t>Try to compare with </a:t>
                      </a:r>
                      <a:r>
                        <a:rPr lang="en-US" sz="2200" b="0" kern="1200" dirty="0" err="1">
                          <a:solidFill>
                            <a:schemeClr val="accent6">
                              <a:lumMod val="50000"/>
                            </a:schemeClr>
                          </a:solidFill>
                          <a:effectLst/>
                          <a:latin typeface="Poppins" panose="00000500000000000000" pitchFamily="2" charset="0"/>
                          <a:cs typeface="Poppins" panose="00000500000000000000" pitchFamily="2" charset="0"/>
                        </a:rPr>
                        <a:t>legalbert</a:t>
                      </a:r>
                      <a:r>
                        <a:rPr lang="en-US" sz="2200" b="0" kern="1200" dirty="0">
                          <a:solidFill>
                            <a:schemeClr val="accent6">
                              <a:lumMod val="50000"/>
                            </a:schemeClr>
                          </a:solidFill>
                          <a:effectLst/>
                          <a:latin typeface="Poppins" panose="00000500000000000000" pitchFamily="2" charset="0"/>
                          <a:cs typeface="Poppins" panose="00000500000000000000" pitchFamily="2" charset="0"/>
                        </a:rPr>
                        <a:t> along with RAG based system </a:t>
                      </a:r>
                      <a:endParaRPr lang="en-US" sz="2200" dirty="0">
                        <a:solidFill>
                          <a:schemeClr val="accent6">
                            <a:lumMod val="50000"/>
                          </a:schemeClr>
                        </a:solidFill>
                        <a:latin typeface="Poppins" panose="00000500000000000000" pitchFamily="2" charset="0"/>
                        <a:cs typeface="Poppins" panose="00000500000000000000" pitchFamily="2" charset="0"/>
                      </a:endParaRPr>
                    </a:p>
                  </a:txBody>
                  <a:tcPr/>
                </a:tc>
                <a:tc>
                  <a:txBody>
                    <a:bodyPr/>
                    <a:lstStyle/>
                    <a:p>
                      <a:pPr>
                        <a:lnSpc>
                          <a:spcPct val="150000"/>
                        </a:lnSpc>
                      </a:pPr>
                      <a:r>
                        <a:rPr lang="en-US" sz="2200" dirty="0">
                          <a:solidFill>
                            <a:schemeClr val="accent6">
                              <a:lumMod val="50000"/>
                            </a:schemeClr>
                          </a:solidFill>
                          <a:latin typeface="Poppins" panose="00000500000000000000" pitchFamily="2" charset="0"/>
                          <a:cs typeface="Poppins" panose="00000500000000000000" pitchFamily="2" charset="0"/>
                        </a:rPr>
                        <a:t>Reviewed </a:t>
                      </a:r>
                      <a:r>
                        <a:rPr lang="en-US" sz="2200" dirty="0" err="1">
                          <a:solidFill>
                            <a:schemeClr val="accent6">
                              <a:lumMod val="50000"/>
                            </a:schemeClr>
                          </a:solidFill>
                          <a:latin typeface="Poppins" panose="00000500000000000000" pitchFamily="2" charset="0"/>
                          <a:cs typeface="Poppins" panose="00000500000000000000" pitchFamily="2" charset="0"/>
                        </a:rPr>
                        <a:t>LegalBERT</a:t>
                      </a:r>
                      <a:r>
                        <a:rPr lang="en-US" sz="2200" dirty="0">
                          <a:solidFill>
                            <a:schemeClr val="accent6">
                              <a:lumMod val="50000"/>
                            </a:schemeClr>
                          </a:solidFill>
                          <a:latin typeface="Poppins" panose="00000500000000000000" pitchFamily="2" charset="0"/>
                          <a:cs typeface="Poppins" panose="00000500000000000000" pitchFamily="2" charset="0"/>
                        </a:rPr>
                        <a:t> as an alternative model and compared it with the proposed </a:t>
                      </a:r>
                      <a:r>
                        <a:rPr lang="en-US" sz="2200" dirty="0" err="1">
                          <a:solidFill>
                            <a:schemeClr val="accent6">
                              <a:lumMod val="50000"/>
                            </a:schemeClr>
                          </a:solidFill>
                          <a:latin typeface="Poppins" panose="00000500000000000000" pitchFamily="2" charset="0"/>
                          <a:cs typeface="Poppins" panose="00000500000000000000" pitchFamily="2" charset="0"/>
                        </a:rPr>
                        <a:t>LLaMA</a:t>
                      </a:r>
                      <a:r>
                        <a:rPr lang="en-US" sz="2200" dirty="0">
                          <a:solidFill>
                            <a:schemeClr val="accent6">
                              <a:lumMod val="50000"/>
                            </a:schemeClr>
                          </a:solidFill>
                          <a:latin typeface="Poppins" panose="00000500000000000000" pitchFamily="2" charset="0"/>
                          <a:cs typeface="Poppins" panose="00000500000000000000" pitchFamily="2" charset="0"/>
                        </a:rPr>
                        <a:t>-based RAG approach. Since our module requires explainable answer generation rather than only text classification, the fine-tuned </a:t>
                      </a:r>
                      <a:r>
                        <a:rPr lang="en-US" sz="2200" dirty="0" err="1">
                          <a:solidFill>
                            <a:schemeClr val="accent6">
                              <a:lumMod val="50000"/>
                            </a:schemeClr>
                          </a:solidFill>
                          <a:latin typeface="Poppins" panose="00000500000000000000" pitchFamily="2" charset="0"/>
                          <a:cs typeface="Poppins" panose="00000500000000000000" pitchFamily="2" charset="0"/>
                        </a:rPr>
                        <a:t>LLaMA</a:t>
                      </a:r>
                      <a:r>
                        <a:rPr lang="en-US" sz="2200" dirty="0">
                          <a:solidFill>
                            <a:schemeClr val="accent6">
                              <a:lumMod val="50000"/>
                            </a:schemeClr>
                          </a:solidFill>
                          <a:latin typeface="Poppins" panose="00000500000000000000" pitchFamily="2" charset="0"/>
                          <a:cs typeface="Poppins" panose="00000500000000000000" pitchFamily="2" charset="0"/>
                        </a:rPr>
                        <a:t> model with Neo4j-based RAG was selected as the most suitable approach.</a:t>
                      </a:r>
                    </a:p>
                  </a:txBody>
                  <a:tcPr/>
                </a:tc>
                <a:extLst>
                  <a:ext uri="{0D108BD9-81ED-4DB2-BD59-A6C34878D82A}">
                    <a16:rowId xmlns:a16="http://schemas.microsoft.com/office/drawing/2014/main" val="1667927936"/>
                  </a:ext>
                </a:extLst>
              </a:tr>
              <a:tr h="2483569">
                <a:tc>
                  <a:txBody>
                    <a:bodyPr/>
                    <a:lstStyle/>
                    <a:p>
                      <a:pPr algn="ctr">
                        <a:lnSpc>
                          <a:spcPct val="150000"/>
                        </a:lnSpc>
                      </a:pPr>
                      <a:r>
                        <a:rPr lang="en-US" sz="2200" dirty="0">
                          <a:solidFill>
                            <a:schemeClr val="accent6">
                              <a:lumMod val="50000"/>
                            </a:schemeClr>
                          </a:solidFill>
                          <a:latin typeface="Poppins" panose="00000500000000000000" pitchFamily="2" charset="0"/>
                          <a:cs typeface="Poppins" panose="00000500000000000000" pitchFamily="2" charset="0"/>
                        </a:rPr>
                        <a:t>IT22113504</a:t>
                      </a:r>
                    </a:p>
                  </a:txBody>
                  <a:tcPr/>
                </a:tc>
                <a:tc>
                  <a:txBody>
                    <a:bodyPr/>
                    <a:lstStyle/>
                    <a:p>
                      <a:pPr algn="l">
                        <a:lnSpc>
                          <a:spcPct val="150000"/>
                        </a:lnSpc>
                      </a:pPr>
                      <a:r>
                        <a:rPr lang="en-US" sz="2200" b="0" kern="1200">
                          <a:solidFill>
                            <a:schemeClr val="accent6">
                              <a:lumMod val="50000"/>
                            </a:schemeClr>
                          </a:solidFill>
                          <a:effectLst/>
                          <a:latin typeface="Poppins" panose="00000500000000000000" pitchFamily="2" charset="0"/>
                          <a:cs typeface="Poppins" panose="00000500000000000000" pitchFamily="2" charset="0"/>
                        </a:rPr>
                        <a:t>Try to compare your </a:t>
                      </a:r>
                      <a:r>
                        <a:rPr lang="en-US" sz="2200" b="0" kern="1200" err="1">
                          <a:solidFill>
                            <a:schemeClr val="accent6">
                              <a:lumMod val="50000"/>
                            </a:schemeClr>
                          </a:solidFill>
                          <a:effectLst/>
                          <a:latin typeface="Poppins" panose="00000500000000000000" pitchFamily="2" charset="0"/>
                          <a:cs typeface="Poppins" panose="00000500000000000000" pitchFamily="2" charset="0"/>
                        </a:rPr>
                        <a:t>appraoch</a:t>
                      </a:r>
                      <a:r>
                        <a:rPr lang="en-US" sz="2200" b="0" kern="1200">
                          <a:solidFill>
                            <a:schemeClr val="accent6">
                              <a:lumMod val="50000"/>
                            </a:schemeClr>
                          </a:solidFill>
                          <a:effectLst/>
                          <a:latin typeface="Poppins" panose="00000500000000000000" pitchFamily="2" charset="0"/>
                          <a:cs typeface="Poppins" panose="00000500000000000000" pitchFamily="2" charset="0"/>
                        </a:rPr>
                        <a:t> with a </a:t>
                      </a:r>
                      <a:r>
                        <a:rPr lang="en-US" sz="2200" b="0" kern="1200" err="1">
                          <a:solidFill>
                            <a:schemeClr val="accent6">
                              <a:lumMod val="50000"/>
                            </a:schemeClr>
                          </a:solidFill>
                          <a:effectLst/>
                          <a:latin typeface="Poppins" panose="00000500000000000000" pitchFamily="2" charset="0"/>
                          <a:cs typeface="Poppins" panose="00000500000000000000" pitchFamily="2" charset="0"/>
                        </a:rPr>
                        <a:t>llm</a:t>
                      </a:r>
                      <a:endParaRPr lang="en-US" sz="2200">
                        <a:solidFill>
                          <a:schemeClr val="accent6">
                            <a:lumMod val="50000"/>
                          </a:schemeClr>
                        </a:solidFill>
                        <a:latin typeface="Poppins" panose="00000500000000000000" pitchFamily="2" charset="0"/>
                        <a:cs typeface="Poppins" panose="00000500000000000000" pitchFamily="2" charset="0"/>
                      </a:endParaRPr>
                    </a:p>
                  </a:txBody>
                  <a:tcPr/>
                </a:tc>
                <a:tc>
                  <a:txBody>
                    <a:bodyPr/>
                    <a:lstStyle/>
                    <a:p>
                      <a:pPr>
                        <a:lnSpc>
                          <a:spcPct val="150000"/>
                        </a:lnSpc>
                      </a:pPr>
                      <a:r>
                        <a:rPr lang="en-US" sz="2200" dirty="0">
                          <a:solidFill>
                            <a:schemeClr val="accent6">
                              <a:lumMod val="50000"/>
                            </a:schemeClr>
                          </a:solidFill>
                          <a:latin typeface="Poppins" panose="00000500000000000000" pitchFamily="2" charset="0"/>
                          <a:cs typeface="Poppins" panose="00000500000000000000" pitchFamily="2" charset="0"/>
                        </a:rPr>
                        <a:t>Compared with </a:t>
                      </a:r>
                      <a:r>
                        <a:rPr lang="en-US" sz="2200" dirty="0" err="1">
                          <a:solidFill>
                            <a:schemeClr val="accent6">
                              <a:lumMod val="50000"/>
                            </a:schemeClr>
                          </a:solidFill>
                          <a:latin typeface="Poppins" panose="00000500000000000000" pitchFamily="2" charset="0"/>
                          <a:cs typeface="Poppins" panose="00000500000000000000" pitchFamily="2" charset="0"/>
                        </a:rPr>
                        <a:t>Chatgpt</a:t>
                      </a:r>
                      <a:r>
                        <a:rPr lang="en-US" sz="2200" dirty="0">
                          <a:solidFill>
                            <a:schemeClr val="accent6">
                              <a:lumMod val="50000"/>
                            </a:schemeClr>
                          </a:solidFill>
                          <a:latin typeface="Poppins" panose="00000500000000000000" pitchFamily="2" charset="0"/>
                          <a:cs typeface="Poppins" panose="00000500000000000000" pitchFamily="2" charset="0"/>
                        </a:rPr>
                        <a:t> and </a:t>
                      </a:r>
                      <a:r>
                        <a:rPr lang="en-US" sz="2200" dirty="0" err="1">
                          <a:solidFill>
                            <a:schemeClr val="accent6">
                              <a:lumMod val="50000"/>
                            </a:schemeClr>
                          </a:solidFill>
                          <a:latin typeface="Poppins" panose="00000500000000000000" pitchFamily="2" charset="0"/>
                          <a:cs typeface="Poppins" panose="00000500000000000000" pitchFamily="2" charset="0"/>
                        </a:rPr>
                        <a:t>gemini</a:t>
                      </a:r>
                      <a:endParaRPr lang="en-US" sz="2200" dirty="0">
                        <a:solidFill>
                          <a:schemeClr val="accent6">
                            <a:lumMod val="50000"/>
                          </a:schemeClr>
                        </a:solidFill>
                        <a:latin typeface="Poppins" panose="00000500000000000000" pitchFamily="2" charset="0"/>
                        <a:cs typeface="Poppins" panose="00000500000000000000" pitchFamily="2" charset="0"/>
                      </a:endParaRPr>
                    </a:p>
                    <a:p>
                      <a:pPr marL="285750" indent="-285750">
                        <a:lnSpc>
                          <a:spcPct val="150000"/>
                        </a:lnSpc>
                        <a:buFont typeface="Arial" panose="020B0604020202020204" pitchFamily="34" charset="0"/>
                        <a:buChar char="•"/>
                      </a:pPr>
                      <a:r>
                        <a:rPr lang="en-US" sz="2200" dirty="0">
                          <a:solidFill>
                            <a:schemeClr val="accent6">
                              <a:lumMod val="50000"/>
                            </a:schemeClr>
                          </a:solidFill>
                          <a:latin typeface="Poppins" panose="00000500000000000000" pitchFamily="2" charset="0"/>
                          <a:cs typeface="Poppins" panose="00000500000000000000" pitchFamily="2" charset="0"/>
                        </a:rPr>
                        <a:t>Our System (Correct), </a:t>
                      </a:r>
                    </a:p>
                    <a:p>
                      <a:pPr marL="285750" indent="-285750">
                        <a:lnSpc>
                          <a:spcPct val="150000"/>
                        </a:lnSpc>
                        <a:buFont typeface="Arial" panose="020B0604020202020204" pitchFamily="34" charset="0"/>
                        <a:buChar char="•"/>
                      </a:pPr>
                      <a:r>
                        <a:rPr lang="en-US" sz="2200" dirty="0">
                          <a:solidFill>
                            <a:schemeClr val="accent6">
                              <a:lumMod val="50000"/>
                            </a:schemeClr>
                          </a:solidFill>
                          <a:latin typeface="Poppins" panose="00000500000000000000" pitchFamily="2" charset="0"/>
                          <a:cs typeface="Poppins" panose="00000500000000000000" pitchFamily="2" charset="0"/>
                        </a:rPr>
                        <a:t>ChatGPT (Incomplete + Hallucination), and </a:t>
                      </a:r>
                    </a:p>
                    <a:p>
                      <a:pPr marL="285750" indent="-285750">
                        <a:lnSpc>
                          <a:spcPct val="150000"/>
                        </a:lnSpc>
                        <a:buFont typeface="Arial" panose="020B0604020202020204" pitchFamily="34" charset="0"/>
                        <a:buChar char="•"/>
                      </a:pPr>
                      <a:r>
                        <a:rPr lang="en-US" sz="2200" dirty="0">
                          <a:solidFill>
                            <a:schemeClr val="accent6">
                              <a:lumMod val="50000"/>
                            </a:schemeClr>
                          </a:solidFill>
                          <a:latin typeface="Poppins" panose="00000500000000000000" pitchFamily="2" charset="0"/>
                          <a:cs typeface="Poppins" panose="00000500000000000000" pitchFamily="2" charset="0"/>
                        </a:rPr>
                        <a:t>Gemini (Hallucination)</a:t>
                      </a:r>
                    </a:p>
                    <a:p>
                      <a:pPr marL="285750" indent="-285750">
                        <a:lnSpc>
                          <a:spcPct val="150000"/>
                        </a:lnSpc>
                        <a:buFont typeface="Arial" panose="020B0604020202020204" pitchFamily="34" charset="0"/>
                        <a:buChar char="•"/>
                      </a:pPr>
                      <a:endParaRPr lang="en-US" sz="2200" dirty="0">
                        <a:solidFill>
                          <a:schemeClr val="accent6">
                            <a:lumMod val="50000"/>
                          </a:schemeClr>
                        </a:solidFill>
                        <a:latin typeface="Poppins" panose="00000500000000000000" pitchFamily="2" charset="0"/>
                        <a:cs typeface="Poppins" panose="00000500000000000000" pitchFamily="2" charset="0"/>
                      </a:endParaRPr>
                    </a:p>
                  </a:txBody>
                  <a:tcPr/>
                </a:tc>
                <a:extLst>
                  <a:ext uri="{0D108BD9-81ED-4DB2-BD59-A6C34878D82A}">
                    <a16:rowId xmlns:a16="http://schemas.microsoft.com/office/drawing/2014/main" val="96196168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598639" y="0"/>
            <a:ext cx="8741212" cy="10287000"/>
            <a:chOff x="0" y="0"/>
            <a:chExt cx="714937" cy="841366"/>
          </a:xfrm>
        </p:grpSpPr>
        <p:sp>
          <p:nvSpPr>
            <p:cNvPr id="3" name="Freeform 3"/>
            <p:cNvSpPr/>
            <p:nvPr/>
          </p:nvSpPr>
          <p:spPr>
            <a:xfrm>
              <a:off x="0" y="0"/>
              <a:ext cx="714937" cy="841366"/>
            </a:xfrm>
            <a:custGeom>
              <a:avLst/>
              <a:gdLst/>
              <a:ahLst/>
              <a:cxnLst/>
              <a:rect l="l" t="t" r="r" b="b"/>
              <a:pathLst>
                <a:path w="714937" h="841366">
                  <a:moveTo>
                    <a:pt x="511737" y="0"/>
                  </a:moveTo>
                  <a:lnTo>
                    <a:pt x="0" y="0"/>
                  </a:lnTo>
                  <a:lnTo>
                    <a:pt x="0" y="841366"/>
                  </a:lnTo>
                  <a:lnTo>
                    <a:pt x="511737" y="841366"/>
                  </a:lnTo>
                  <a:lnTo>
                    <a:pt x="714937" y="420683"/>
                  </a:lnTo>
                  <a:lnTo>
                    <a:pt x="511737" y="0"/>
                  </a:lnTo>
                  <a:close/>
                </a:path>
              </a:pathLst>
            </a:custGeom>
            <a:blipFill>
              <a:blip r:embed="rId2"/>
              <a:stretch>
                <a:fillRect t="-13650" b="-13650"/>
              </a:stretch>
            </a:blipFill>
          </p:spPr>
          <p:txBody>
            <a:bodyPr/>
            <a:lstStyle/>
            <a:p>
              <a:endParaRPr lang="en-LK"/>
            </a:p>
          </p:txBody>
        </p:sp>
      </p:grpSp>
      <p:sp>
        <p:nvSpPr>
          <p:cNvPr id="4" name="TextBox 4"/>
          <p:cNvSpPr txBox="1"/>
          <p:nvPr/>
        </p:nvSpPr>
        <p:spPr>
          <a:xfrm>
            <a:off x="7465854" y="5550915"/>
            <a:ext cx="8134793" cy="1165630"/>
          </a:xfrm>
          <a:prstGeom prst="rect">
            <a:avLst/>
          </a:prstGeom>
        </p:spPr>
        <p:txBody>
          <a:bodyPr lIns="0" tIns="0" rIns="0" bIns="0" rtlCol="0" anchor="t">
            <a:spAutoFit/>
          </a:bodyPr>
          <a:lstStyle/>
          <a:p>
            <a:pPr algn="ctr">
              <a:lnSpc>
                <a:spcPts val="8930"/>
              </a:lnSpc>
            </a:pPr>
            <a:r>
              <a:rPr lang="en-US" sz="7902">
                <a:solidFill>
                  <a:srgbClr val="7E310B"/>
                </a:solidFill>
                <a:latin typeface="Anton"/>
                <a:ea typeface="Anton"/>
                <a:cs typeface="Anton"/>
                <a:sym typeface="Anton"/>
              </a:rPr>
              <a:t>SOLUTION OVERVIEW </a:t>
            </a:r>
          </a:p>
        </p:txBody>
      </p:sp>
      <p:sp>
        <p:nvSpPr>
          <p:cNvPr id="5" name="TextBox 5"/>
          <p:cNvSpPr txBox="1"/>
          <p:nvPr/>
        </p:nvSpPr>
        <p:spPr>
          <a:xfrm>
            <a:off x="6332210" y="6994580"/>
            <a:ext cx="10402082" cy="1958920"/>
          </a:xfrm>
          <a:prstGeom prst="rect">
            <a:avLst/>
          </a:prstGeom>
        </p:spPr>
        <p:txBody>
          <a:bodyPr lIns="0" tIns="0" rIns="0" bIns="0" rtlCol="0" anchor="t">
            <a:spAutoFit/>
          </a:bodyPr>
          <a:lstStyle/>
          <a:p>
            <a:pPr algn="ctr">
              <a:lnSpc>
                <a:spcPts val="3853"/>
              </a:lnSpc>
            </a:pPr>
            <a:r>
              <a:rPr lang="en-US" sz="2752" b="1">
                <a:solidFill>
                  <a:srgbClr val="7E310B"/>
                </a:solidFill>
                <a:latin typeface="Poppins Bold"/>
                <a:ea typeface="Poppins Bold"/>
                <a:cs typeface="Poppins Bold"/>
                <a:sym typeface="Poppins Bold"/>
              </a:rPr>
              <a:t>Solution</a:t>
            </a:r>
            <a:r>
              <a:rPr lang="en-US" sz="2752">
                <a:solidFill>
                  <a:srgbClr val="7E310B"/>
                </a:solidFill>
                <a:latin typeface="Poppins"/>
                <a:ea typeface="Poppins"/>
                <a:cs typeface="Poppins"/>
                <a:sym typeface="Poppins"/>
              </a:rPr>
              <a:t>: An AI-powered platform for analyzing Sri Lankan property law documents through summarization, explainable reasoning, risk evaluation, and knowledge graph support.</a:t>
            </a:r>
          </a:p>
        </p:txBody>
      </p:sp>
      <p:sp>
        <p:nvSpPr>
          <p:cNvPr id="9" name="TextBox 4">
            <a:extLst>
              <a:ext uri="{FF2B5EF4-FFF2-40B4-BE49-F238E27FC236}">
                <a16:creationId xmlns:a16="http://schemas.microsoft.com/office/drawing/2014/main" id="{4565C84E-E578-4515-2AE3-0CAAA8C9DCFC}"/>
              </a:ext>
            </a:extLst>
          </p:cNvPr>
          <p:cNvSpPr txBox="1"/>
          <p:nvPr/>
        </p:nvSpPr>
        <p:spPr>
          <a:xfrm>
            <a:off x="7465854" y="1333500"/>
            <a:ext cx="8134793" cy="1165630"/>
          </a:xfrm>
          <a:prstGeom prst="rect">
            <a:avLst/>
          </a:prstGeom>
        </p:spPr>
        <p:txBody>
          <a:bodyPr lIns="0" tIns="0" rIns="0" bIns="0" rtlCol="0" anchor="t">
            <a:spAutoFit/>
          </a:bodyPr>
          <a:lstStyle/>
          <a:p>
            <a:pPr algn="ctr">
              <a:lnSpc>
                <a:spcPts val="8930"/>
              </a:lnSpc>
            </a:pPr>
            <a:r>
              <a:rPr lang="en-US" sz="7902">
                <a:solidFill>
                  <a:srgbClr val="7E310B"/>
                </a:solidFill>
                <a:latin typeface="Anton"/>
                <a:ea typeface="Anton"/>
                <a:cs typeface="Anton"/>
                <a:sym typeface="Anton"/>
              </a:rPr>
              <a:t>PROBLEM OVERVIEW </a:t>
            </a:r>
          </a:p>
        </p:txBody>
      </p:sp>
      <p:sp>
        <p:nvSpPr>
          <p:cNvPr id="10" name="TextBox 5">
            <a:extLst>
              <a:ext uri="{FF2B5EF4-FFF2-40B4-BE49-F238E27FC236}">
                <a16:creationId xmlns:a16="http://schemas.microsoft.com/office/drawing/2014/main" id="{FFC179AA-7C89-77CB-761E-39D4AA069954}"/>
              </a:ext>
            </a:extLst>
          </p:cNvPr>
          <p:cNvSpPr txBox="1"/>
          <p:nvPr/>
        </p:nvSpPr>
        <p:spPr>
          <a:xfrm>
            <a:off x="6332210" y="2777165"/>
            <a:ext cx="10402082" cy="1974323"/>
          </a:xfrm>
          <a:prstGeom prst="rect">
            <a:avLst/>
          </a:prstGeom>
        </p:spPr>
        <p:txBody>
          <a:bodyPr lIns="0" tIns="0" rIns="0" bIns="0" rtlCol="0" anchor="t">
            <a:spAutoFit/>
          </a:bodyPr>
          <a:lstStyle/>
          <a:p>
            <a:pPr algn="ctr">
              <a:lnSpc>
                <a:spcPts val="3853"/>
              </a:lnSpc>
            </a:pPr>
            <a:r>
              <a:rPr lang="en-US" sz="2752" b="1">
                <a:solidFill>
                  <a:srgbClr val="7E310B"/>
                </a:solidFill>
                <a:latin typeface="Poppins Bold"/>
                <a:ea typeface="Poppins Bold"/>
                <a:cs typeface="Poppins Bold"/>
                <a:sym typeface="Poppins Bold"/>
              </a:rPr>
              <a:t>Problem</a:t>
            </a:r>
            <a:r>
              <a:rPr lang="en-US" sz="2752">
                <a:solidFill>
                  <a:srgbClr val="7E310B"/>
                </a:solidFill>
                <a:latin typeface="Poppins"/>
                <a:ea typeface="Poppins"/>
                <a:cs typeface="Poppins"/>
                <a:sym typeface="Poppins"/>
              </a:rPr>
              <a:t>: Legal documents are complex and time-consuming to analyze. Users need an automated system to understand legal content without consulting legal professionals for minor tasks, while ensuring traceability.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a:xfrm>
            <a:off x="1444626" y="3741496"/>
            <a:ext cx="15544800" cy="1538427"/>
          </a:xfrm>
          <a:solidFill>
            <a:schemeClr val="accent6">
              <a:lumMod val="50000"/>
            </a:schemeClr>
          </a:solidFill>
        </p:spPr>
        <p:txBody>
          <a:bodyPr>
            <a:normAutofit fontScale="90000"/>
          </a:bodyPr>
          <a:lstStyle/>
          <a:p>
            <a:r>
              <a:rPr lang="en-US" sz="4900" dirty="0">
                <a:solidFill>
                  <a:schemeClr val="bg1"/>
                </a:solidFill>
              </a:rPr>
              <a:t>Visual INTEGRATED MULTI PERSPECTIVE LEGAL SUMMARIZER</a:t>
            </a:r>
            <a:br>
              <a:rPr lang="en-US" dirty="0">
                <a:solidFill>
                  <a:schemeClr val="bg1"/>
                </a:solidFill>
              </a:rPr>
            </a:br>
            <a:r>
              <a:rPr lang="en-US" dirty="0">
                <a:solidFill>
                  <a:schemeClr val="bg1"/>
                </a:solidFill>
              </a:rPr>
              <a:t>It22113504 | </a:t>
            </a:r>
            <a:r>
              <a:rPr lang="en-US" dirty="0" err="1">
                <a:solidFill>
                  <a:schemeClr val="bg1"/>
                </a:solidFill>
              </a:rPr>
              <a:t>wicramasinghe</a:t>
            </a:r>
            <a:r>
              <a:rPr lang="en-US" dirty="0">
                <a:solidFill>
                  <a:schemeClr val="bg1"/>
                </a:solidFill>
              </a:rPr>
              <a:t> d a t n</a:t>
            </a:r>
          </a:p>
        </p:txBody>
      </p:sp>
      <p:sp>
        <p:nvSpPr>
          <p:cNvPr id="6" name="Text Placeholder 5">
            <a:extLst>
              <a:ext uri="{FF2B5EF4-FFF2-40B4-BE49-F238E27FC236}">
                <a16:creationId xmlns:a16="http://schemas.microsoft.com/office/drawing/2014/main" id="{07A91C59-28F0-4A9C-ACA2-19A536A0C380}"/>
              </a:ext>
            </a:extLst>
          </p:cNvPr>
          <p:cNvSpPr>
            <a:spLocks noGrp="1"/>
          </p:cNvSpPr>
          <p:nvPr>
            <p:ph type="body" idx="1"/>
          </p:nvPr>
        </p:nvSpPr>
        <p:spPr>
          <a:xfrm>
            <a:off x="1444626" y="5802163"/>
            <a:ext cx="15544800" cy="2942003"/>
          </a:xfrm>
        </p:spPr>
        <p:txBody>
          <a:bodyPr>
            <a:normAutofit lnSpcReduction="10000"/>
          </a:bodyPr>
          <a:lstStyle/>
          <a:p>
            <a:pPr algn="just"/>
            <a:r>
              <a:rPr lang="en-US" sz="4800" dirty="0"/>
              <a:t>This component develops a system that simplifies complex property law documents by generating multi-perspective summaries with visualizations and traceability, improving understanding for both experts and non-experts.</a:t>
            </a:r>
            <a:endParaRPr lang="en-US" dirty="0"/>
          </a:p>
        </p:txBody>
      </p:sp>
      <p:sp>
        <p:nvSpPr>
          <p:cNvPr id="4" name="Rectangle 3">
            <a:extLst>
              <a:ext uri="{FF2B5EF4-FFF2-40B4-BE49-F238E27FC236}">
                <a16:creationId xmlns:a16="http://schemas.microsoft.com/office/drawing/2014/main" id="{5FB98E66-DBD5-4B29-AC68-A58A70C64231}"/>
              </a:ext>
            </a:extLst>
          </p:cNvPr>
          <p:cNvSpPr/>
          <p:nvPr/>
        </p:nvSpPr>
        <p:spPr>
          <a:xfrm>
            <a:off x="1444626" y="9739312"/>
            <a:ext cx="10224548" cy="5476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IT22113504</a:t>
            </a:r>
            <a:r>
              <a:rPr lang="en-US" sz="2700" dirty="0">
                <a:solidFill>
                  <a:schemeClr val="tx1"/>
                </a:solidFill>
              </a:rPr>
              <a:t>   | </a:t>
            </a:r>
            <a:r>
              <a:rPr lang="en-US" sz="2800" dirty="0">
                <a:solidFill>
                  <a:schemeClr val="tx1"/>
                </a:solidFill>
              </a:rPr>
              <a:t>WICRAMASINGHE D A T N </a:t>
            </a:r>
            <a:r>
              <a:rPr lang="en-US" sz="2700" dirty="0">
                <a:solidFill>
                  <a:schemeClr val="tx1"/>
                </a:solidFill>
              </a:rPr>
              <a:t>|   25-26J-127</a:t>
            </a:r>
          </a:p>
        </p:txBody>
      </p:sp>
      <p:pic>
        <p:nvPicPr>
          <p:cNvPr id="3" name="Picture 2">
            <a:extLst>
              <a:ext uri="{FF2B5EF4-FFF2-40B4-BE49-F238E27FC236}">
                <a16:creationId xmlns:a16="http://schemas.microsoft.com/office/drawing/2014/main" id="{FD6BD491-022E-F380-FBEF-3C85372AFB2B}"/>
              </a:ext>
            </a:extLst>
          </p:cNvPr>
          <p:cNvPicPr>
            <a:picLocks noChangeAspect="1"/>
          </p:cNvPicPr>
          <p:nvPr/>
        </p:nvPicPr>
        <p:blipFill>
          <a:blip r:embed="rId2" cstate="print">
            <a:extLst>
              <a:ext uri="{28A0092B-C50C-407E-A947-70E740481C1C}">
                <a14:useLocalDpi xmlns:a14="http://schemas.microsoft.com/office/drawing/2010/main" val="0"/>
              </a:ext>
            </a:extLst>
          </a:blip>
          <a:srcRect l="4898" r="15370"/>
          <a:stretch>
            <a:fillRect/>
          </a:stretch>
        </p:blipFill>
        <p:spPr>
          <a:xfrm>
            <a:off x="15810275" y="17573"/>
            <a:ext cx="2448233" cy="2903041"/>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81409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30EBF-D3FA-C51B-2880-E8AAD84321F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5D5B4BC-04CA-2632-359C-00D4AFF3FF9F}"/>
              </a:ext>
            </a:extLst>
          </p:cNvPr>
          <p:cNvSpPr>
            <a:spLocks noGrp="1"/>
          </p:cNvSpPr>
          <p:nvPr>
            <p:ph type="title"/>
          </p:nvPr>
        </p:nvSpPr>
        <p:spPr>
          <a:xfrm>
            <a:off x="1444626" y="3741496"/>
            <a:ext cx="15544800" cy="1641665"/>
          </a:xfrm>
          <a:solidFill>
            <a:schemeClr val="accent6">
              <a:lumMod val="50000"/>
            </a:schemeClr>
          </a:solidFill>
        </p:spPr>
        <p:txBody>
          <a:bodyPr>
            <a:normAutofit/>
          </a:bodyPr>
          <a:lstStyle/>
          <a:p>
            <a:r>
              <a:rPr lang="en-US" sz="4900" dirty="0">
                <a:solidFill>
                  <a:schemeClr val="bg1"/>
                </a:solidFill>
              </a:rPr>
              <a:t>Explainable Legal Reasoning Module</a:t>
            </a:r>
            <a:br>
              <a:rPr lang="en-US" dirty="0">
                <a:solidFill>
                  <a:schemeClr val="bg1"/>
                </a:solidFill>
              </a:rPr>
            </a:br>
            <a:r>
              <a:rPr lang="en-US" dirty="0">
                <a:solidFill>
                  <a:schemeClr val="bg1"/>
                </a:solidFill>
              </a:rPr>
              <a:t>IT22348784 | Sivanuja S</a:t>
            </a:r>
          </a:p>
        </p:txBody>
      </p:sp>
      <p:sp>
        <p:nvSpPr>
          <p:cNvPr id="6" name="Text Placeholder 5">
            <a:extLst>
              <a:ext uri="{FF2B5EF4-FFF2-40B4-BE49-F238E27FC236}">
                <a16:creationId xmlns:a16="http://schemas.microsoft.com/office/drawing/2014/main" id="{199C5028-0D26-E4BF-DBBE-461DE1276B46}"/>
              </a:ext>
            </a:extLst>
          </p:cNvPr>
          <p:cNvSpPr>
            <a:spLocks noGrp="1"/>
          </p:cNvSpPr>
          <p:nvPr>
            <p:ph type="body" idx="1"/>
          </p:nvPr>
        </p:nvSpPr>
        <p:spPr>
          <a:xfrm>
            <a:off x="1444626" y="5802163"/>
            <a:ext cx="15544800" cy="2942003"/>
          </a:xfrm>
        </p:spPr>
        <p:txBody>
          <a:bodyPr>
            <a:normAutofit fontScale="92500"/>
          </a:bodyPr>
          <a:lstStyle/>
          <a:p>
            <a:pPr algn="just"/>
            <a:r>
              <a:rPr lang="en-US" sz="4800" dirty="0"/>
              <a:t>Explainable Legal Reasoning Module generates structured IRAC-based, citation-backed legal explanations for Sri Lankan property law, enabling accurate, transparent, and trustworthy guidance, outperforming general and legal LLMs in evaluation.</a:t>
            </a:r>
            <a:endParaRPr lang="en-US" dirty="0"/>
          </a:p>
        </p:txBody>
      </p:sp>
      <p:sp>
        <p:nvSpPr>
          <p:cNvPr id="4" name="Rectangle 3">
            <a:extLst>
              <a:ext uri="{FF2B5EF4-FFF2-40B4-BE49-F238E27FC236}">
                <a16:creationId xmlns:a16="http://schemas.microsoft.com/office/drawing/2014/main" id="{8000674F-8E0A-CEAC-3B1A-FF5859AAE3C6}"/>
              </a:ext>
            </a:extLst>
          </p:cNvPr>
          <p:cNvSpPr/>
          <p:nvPr/>
        </p:nvSpPr>
        <p:spPr>
          <a:xfrm>
            <a:off x="1444626" y="9739312"/>
            <a:ext cx="9310147" cy="5476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IT22348784 | Sivanuja S</a:t>
            </a:r>
            <a:r>
              <a:rPr lang="en-US" sz="2700" dirty="0">
                <a:solidFill>
                  <a:schemeClr val="tx1"/>
                </a:solidFill>
              </a:rPr>
              <a:t>|   25-26J-127</a:t>
            </a:r>
          </a:p>
        </p:txBody>
      </p:sp>
      <p:pic>
        <p:nvPicPr>
          <p:cNvPr id="3" name="Picture 2">
            <a:extLst>
              <a:ext uri="{FF2B5EF4-FFF2-40B4-BE49-F238E27FC236}">
                <a16:creationId xmlns:a16="http://schemas.microsoft.com/office/drawing/2014/main" id="{22D405AD-1026-9712-4FD9-528284F18E41}"/>
              </a:ext>
            </a:extLst>
          </p:cNvPr>
          <p:cNvPicPr>
            <a:picLocks noChangeAspect="1"/>
          </p:cNvPicPr>
          <p:nvPr/>
        </p:nvPicPr>
        <p:blipFill>
          <a:blip r:embed="rId2">
            <a:extLst>
              <a:ext uri="{28A0092B-C50C-407E-A947-70E740481C1C}">
                <a14:useLocalDpi xmlns:a14="http://schemas.microsoft.com/office/drawing/2010/main" val="0"/>
              </a:ext>
            </a:extLst>
          </a:blip>
          <a:srcRect l="374" r="374"/>
          <a:stretch/>
        </p:blipFill>
        <p:spPr>
          <a:xfrm>
            <a:off x="15810275" y="17573"/>
            <a:ext cx="2448233" cy="2903041"/>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66025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A259C-6FEB-AEB5-6682-BA128003A39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BDDF1A9-4A62-7576-9479-2C7E2C32D58D}"/>
              </a:ext>
            </a:extLst>
          </p:cNvPr>
          <p:cNvSpPr>
            <a:spLocks noGrp="1"/>
          </p:cNvSpPr>
          <p:nvPr>
            <p:ph type="title"/>
          </p:nvPr>
        </p:nvSpPr>
        <p:spPr>
          <a:xfrm>
            <a:off x="1444626" y="3741497"/>
            <a:ext cx="15544800" cy="1626916"/>
          </a:xfrm>
          <a:solidFill>
            <a:schemeClr val="accent6">
              <a:lumMod val="50000"/>
            </a:schemeClr>
          </a:solidFill>
        </p:spPr>
        <p:txBody>
          <a:bodyPr>
            <a:normAutofit/>
          </a:bodyPr>
          <a:lstStyle/>
          <a:p>
            <a:r>
              <a:rPr lang="en-US" sz="4900" dirty="0">
                <a:solidFill>
                  <a:schemeClr val="bg1"/>
                </a:solidFill>
              </a:rPr>
              <a:t>Bias &amp; Risk Evaluator </a:t>
            </a:r>
            <a:br>
              <a:rPr lang="en-US" dirty="0">
                <a:solidFill>
                  <a:schemeClr val="bg1"/>
                </a:solidFill>
              </a:rPr>
            </a:br>
            <a:r>
              <a:rPr lang="en-US" dirty="0">
                <a:solidFill>
                  <a:schemeClr val="bg1"/>
                </a:solidFill>
              </a:rPr>
              <a:t>IT22344892 | Maxwell L Y </a:t>
            </a:r>
          </a:p>
        </p:txBody>
      </p:sp>
      <p:sp>
        <p:nvSpPr>
          <p:cNvPr id="6" name="Text Placeholder 5">
            <a:extLst>
              <a:ext uri="{FF2B5EF4-FFF2-40B4-BE49-F238E27FC236}">
                <a16:creationId xmlns:a16="http://schemas.microsoft.com/office/drawing/2014/main" id="{85A5FA2D-1671-8659-368A-58B97409B8DB}"/>
              </a:ext>
            </a:extLst>
          </p:cNvPr>
          <p:cNvSpPr>
            <a:spLocks noGrp="1"/>
          </p:cNvSpPr>
          <p:nvPr>
            <p:ph type="body" idx="1"/>
          </p:nvPr>
        </p:nvSpPr>
        <p:spPr>
          <a:xfrm>
            <a:off x="1444626" y="5802163"/>
            <a:ext cx="15544800" cy="2942003"/>
          </a:xfrm>
        </p:spPr>
        <p:txBody>
          <a:bodyPr>
            <a:normAutofit lnSpcReduction="10000"/>
          </a:bodyPr>
          <a:lstStyle/>
          <a:p>
            <a:pPr algn="just"/>
            <a:r>
              <a:rPr lang="en-US" sz="4800" dirty="0"/>
              <a:t>Bias &amp; Risk Evaluator analyzes property agreements using NLP to detect biased clauses and risk severity, generating a confidence-based Trust Score and interactive report for clearer, user-friendly legal risk assessment.</a:t>
            </a:r>
          </a:p>
        </p:txBody>
      </p:sp>
      <p:sp>
        <p:nvSpPr>
          <p:cNvPr id="4" name="Rectangle 3">
            <a:extLst>
              <a:ext uri="{FF2B5EF4-FFF2-40B4-BE49-F238E27FC236}">
                <a16:creationId xmlns:a16="http://schemas.microsoft.com/office/drawing/2014/main" id="{75BDB17C-A29D-C8F6-BDCC-74939386CC06}"/>
              </a:ext>
            </a:extLst>
          </p:cNvPr>
          <p:cNvSpPr/>
          <p:nvPr/>
        </p:nvSpPr>
        <p:spPr>
          <a:xfrm>
            <a:off x="1444626" y="9739312"/>
            <a:ext cx="10224548" cy="5476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IT22344892 | Maxwell L Y </a:t>
            </a:r>
            <a:r>
              <a:rPr lang="en-US" sz="2700" dirty="0">
                <a:solidFill>
                  <a:schemeClr val="tx1"/>
                </a:solidFill>
              </a:rPr>
              <a:t>|   25-26J-127</a:t>
            </a:r>
          </a:p>
        </p:txBody>
      </p:sp>
      <p:pic>
        <p:nvPicPr>
          <p:cNvPr id="3" name="Picture 2">
            <a:extLst>
              <a:ext uri="{FF2B5EF4-FFF2-40B4-BE49-F238E27FC236}">
                <a16:creationId xmlns:a16="http://schemas.microsoft.com/office/drawing/2014/main" id="{4A6FAF36-4D3A-153C-B33B-7FE7A3E7B0BC}"/>
              </a:ext>
            </a:extLst>
          </p:cNvPr>
          <p:cNvPicPr>
            <a:picLocks noChangeAspect="1"/>
          </p:cNvPicPr>
          <p:nvPr/>
        </p:nvPicPr>
        <p:blipFill>
          <a:blip r:embed="rId2">
            <a:extLst>
              <a:ext uri="{28A0092B-C50C-407E-A947-70E740481C1C}">
                <a14:useLocalDpi xmlns:a14="http://schemas.microsoft.com/office/drawing/2010/main" val="0"/>
              </a:ext>
            </a:extLst>
          </a:blip>
          <a:srcRect t="7170" b="7170"/>
          <a:stretch/>
        </p:blipFill>
        <p:spPr>
          <a:xfrm>
            <a:off x="15810275" y="32321"/>
            <a:ext cx="2448233" cy="2903041"/>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89294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416C3-9809-F980-4CF9-0258C98D365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F1B37F8-1EAC-1E15-D20B-7EFE154E5038}"/>
              </a:ext>
            </a:extLst>
          </p:cNvPr>
          <p:cNvSpPr>
            <a:spLocks noGrp="1"/>
          </p:cNvSpPr>
          <p:nvPr>
            <p:ph type="title"/>
          </p:nvPr>
        </p:nvSpPr>
        <p:spPr>
          <a:xfrm>
            <a:off x="1444626" y="3741497"/>
            <a:ext cx="15544800" cy="1582672"/>
          </a:xfrm>
          <a:solidFill>
            <a:schemeClr val="accent6">
              <a:lumMod val="50000"/>
            </a:schemeClr>
          </a:solidFill>
        </p:spPr>
        <p:txBody>
          <a:bodyPr>
            <a:normAutofit/>
          </a:bodyPr>
          <a:lstStyle/>
          <a:p>
            <a:r>
              <a:rPr lang="en-US" sz="4900" dirty="0">
                <a:solidFill>
                  <a:schemeClr val="bg1"/>
                </a:solidFill>
              </a:rPr>
              <a:t>Legal Knowledge Graph </a:t>
            </a:r>
            <a:br>
              <a:rPr lang="en-US" dirty="0">
                <a:solidFill>
                  <a:schemeClr val="bg1"/>
                </a:solidFill>
              </a:rPr>
            </a:br>
            <a:r>
              <a:rPr lang="en-US" dirty="0">
                <a:solidFill>
                  <a:schemeClr val="bg1"/>
                </a:solidFill>
              </a:rPr>
              <a:t>IT22732736 | Sharan K</a:t>
            </a:r>
          </a:p>
        </p:txBody>
      </p:sp>
      <p:sp>
        <p:nvSpPr>
          <p:cNvPr id="6" name="Text Placeholder 5">
            <a:extLst>
              <a:ext uri="{FF2B5EF4-FFF2-40B4-BE49-F238E27FC236}">
                <a16:creationId xmlns:a16="http://schemas.microsoft.com/office/drawing/2014/main" id="{1301C8DC-84E0-961A-7633-31D919EC7598}"/>
              </a:ext>
            </a:extLst>
          </p:cNvPr>
          <p:cNvSpPr>
            <a:spLocks noGrp="1"/>
          </p:cNvSpPr>
          <p:nvPr>
            <p:ph type="body" idx="1"/>
          </p:nvPr>
        </p:nvSpPr>
        <p:spPr>
          <a:xfrm>
            <a:off x="1444626" y="5802163"/>
            <a:ext cx="15544800" cy="2942003"/>
          </a:xfrm>
        </p:spPr>
        <p:txBody>
          <a:bodyPr>
            <a:normAutofit fontScale="92500"/>
          </a:bodyPr>
          <a:lstStyle/>
          <a:p>
            <a:pPr algn="just"/>
            <a:r>
              <a:rPr lang="en-US" sz="4800" dirty="0"/>
              <a:t>Dynamic Legal Knowledge Graph converts Sri Lankan deed PDFs into structured graph data using NER and hybrid extraction, enabling ownership tracking, encumbrance analysis, and natural-language legal queries through </a:t>
            </a:r>
            <a:r>
              <a:rPr lang="en-US" sz="4800" dirty="0" err="1"/>
              <a:t>GraphRAG</a:t>
            </a:r>
            <a:r>
              <a:rPr lang="en-US" sz="4800" dirty="0"/>
              <a:t>.</a:t>
            </a:r>
          </a:p>
        </p:txBody>
      </p:sp>
      <p:sp>
        <p:nvSpPr>
          <p:cNvPr id="4" name="Rectangle 3">
            <a:extLst>
              <a:ext uri="{FF2B5EF4-FFF2-40B4-BE49-F238E27FC236}">
                <a16:creationId xmlns:a16="http://schemas.microsoft.com/office/drawing/2014/main" id="{CA8EED4E-5D94-E44B-AC13-C1FB0B5D8325}"/>
              </a:ext>
            </a:extLst>
          </p:cNvPr>
          <p:cNvSpPr/>
          <p:nvPr/>
        </p:nvSpPr>
        <p:spPr>
          <a:xfrm>
            <a:off x="1444626" y="9739312"/>
            <a:ext cx="10224548" cy="5476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IT22732736 | Sharan K</a:t>
            </a:r>
            <a:r>
              <a:rPr lang="en-US" sz="2700" dirty="0">
                <a:solidFill>
                  <a:schemeClr val="tx1"/>
                </a:solidFill>
              </a:rPr>
              <a:t>|   25-26J-127</a:t>
            </a:r>
          </a:p>
        </p:txBody>
      </p:sp>
      <p:pic>
        <p:nvPicPr>
          <p:cNvPr id="3" name="Picture 2">
            <a:extLst>
              <a:ext uri="{FF2B5EF4-FFF2-40B4-BE49-F238E27FC236}">
                <a16:creationId xmlns:a16="http://schemas.microsoft.com/office/drawing/2014/main" id="{1097ABBD-6496-C6A0-FC2C-DCD7AAA5B2EE}"/>
              </a:ext>
            </a:extLst>
          </p:cNvPr>
          <p:cNvPicPr>
            <a:picLocks noChangeAspect="1"/>
          </p:cNvPicPr>
          <p:nvPr/>
        </p:nvPicPr>
        <p:blipFill>
          <a:blip r:embed="rId2">
            <a:extLst>
              <a:ext uri="{28A0092B-C50C-407E-A947-70E740481C1C}">
                <a14:useLocalDpi xmlns:a14="http://schemas.microsoft.com/office/drawing/2010/main" val="0"/>
              </a:ext>
            </a:extLst>
          </a:blip>
          <a:srcRect l="7425" r="7425"/>
          <a:stretch/>
        </p:blipFill>
        <p:spPr>
          <a:xfrm>
            <a:off x="15810275" y="32321"/>
            <a:ext cx="2448233" cy="2903041"/>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59635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LK"/>
          </a:p>
        </p:txBody>
      </p:sp>
      <p:grpSp>
        <p:nvGrpSpPr>
          <p:cNvPr id="3" name="Group 3"/>
          <p:cNvGrpSpPr/>
          <p:nvPr/>
        </p:nvGrpSpPr>
        <p:grpSpPr>
          <a:xfrm>
            <a:off x="1028700" y="1028700"/>
            <a:ext cx="16230600" cy="8229600"/>
            <a:chOff x="0" y="0"/>
            <a:chExt cx="4274726" cy="2167467"/>
          </a:xfrm>
        </p:grpSpPr>
        <p:sp>
          <p:nvSpPr>
            <p:cNvPr id="4" name="Freeform 4"/>
            <p:cNvSpPr/>
            <p:nvPr/>
          </p:nvSpPr>
          <p:spPr>
            <a:xfrm>
              <a:off x="0" y="0"/>
              <a:ext cx="4274726" cy="2167467"/>
            </a:xfrm>
            <a:custGeom>
              <a:avLst/>
              <a:gdLst/>
              <a:ahLst/>
              <a:cxnLst/>
              <a:rect l="l" t="t" r="r" b="b"/>
              <a:pathLst>
                <a:path w="4274726" h="2167467">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FFFFF">
                <a:alpha val="83922"/>
              </a:srgbClr>
            </a:solidFill>
          </p:spPr>
          <p:txBody>
            <a:bodyPr/>
            <a:lstStyle/>
            <a:p>
              <a:endParaRPr lang="en-LK"/>
            </a:p>
          </p:txBody>
        </p:sp>
        <p:sp>
          <p:nvSpPr>
            <p:cNvPr id="5" name="TextBox 5"/>
            <p:cNvSpPr txBox="1"/>
            <p:nvPr/>
          </p:nvSpPr>
          <p:spPr>
            <a:xfrm>
              <a:off x="0" y="-38100"/>
              <a:ext cx="4274726" cy="2205567"/>
            </a:xfrm>
            <a:prstGeom prst="rect">
              <a:avLst/>
            </a:prstGeom>
          </p:spPr>
          <p:txBody>
            <a:bodyPr lIns="50800" tIns="50800" rIns="50800" bIns="50800" rtlCol="0" anchor="ctr"/>
            <a:lstStyle/>
            <a:p>
              <a:pPr algn="ctr">
                <a:lnSpc>
                  <a:spcPts val="2799"/>
                </a:lnSpc>
              </a:pPr>
              <a:endParaRPr/>
            </a:p>
          </p:txBody>
        </p:sp>
      </p:grpSp>
      <p:sp>
        <p:nvSpPr>
          <p:cNvPr id="6" name="TextBox 6"/>
          <p:cNvSpPr txBox="1"/>
          <p:nvPr/>
        </p:nvSpPr>
        <p:spPr>
          <a:xfrm>
            <a:off x="4219454" y="1721947"/>
            <a:ext cx="9849092" cy="1165630"/>
          </a:xfrm>
          <a:prstGeom prst="rect">
            <a:avLst/>
          </a:prstGeom>
        </p:spPr>
        <p:txBody>
          <a:bodyPr lIns="0" tIns="0" rIns="0" bIns="0" rtlCol="0" anchor="t">
            <a:spAutoFit/>
          </a:bodyPr>
          <a:lstStyle/>
          <a:p>
            <a:pPr algn="ctr">
              <a:lnSpc>
                <a:spcPts val="8930"/>
              </a:lnSpc>
            </a:pPr>
            <a:r>
              <a:rPr lang="en-US" sz="7902" dirty="0">
                <a:solidFill>
                  <a:srgbClr val="7E310B"/>
                </a:solidFill>
                <a:latin typeface="Anton"/>
                <a:ea typeface="Anton"/>
                <a:cs typeface="Anton"/>
                <a:sym typeface="Anton"/>
              </a:rPr>
              <a:t>RESULTS &amp; TESTIMONIALS</a:t>
            </a:r>
          </a:p>
        </p:txBody>
      </p:sp>
      <p:sp>
        <p:nvSpPr>
          <p:cNvPr id="7" name="TextBox 7"/>
          <p:cNvSpPr txBox="1"/>
          <p:nvPr/>
        </p:nvSpPr>
        <p:spPr>
          <a:xfrm>
            <a:off x="3479097" y="3081591"/>
            <a:ext cx="11329805" cy="5724644"/>
          </a:xfrm>
          <a:prstGeom prst="rect">
            <a:avLst/>
          </a:prstGeom>
        </p:spPr>
        <p:txBody>
          <a:bodyPr lIns="0" tIns="0" rIns="0" bIns="0" rtlCol="0" anchor="t">
            <a:spAutoFit/>
          </a:bodyPr>
          <a:lstStyle/>
          <a:p>
            <a:pPr algn="ctr"/>
            <a:r>
              <a:rPr lang="en-US" sz="3100" dirty="0">
                <a:solidFill>
                  <a:srgbClr val="7E310B"/>
                </a:solidFill>
                <a:latin typeface="Poppins"/>
                <a:cs typeface="Poppins"/>
                <a:sym typeface="Poppins Bold"/>
              </a:rPr>
              <a:t>The system was successfully </a:t>
            </a:r>
            <a:r>
              <a:rPr lang="en-US" sz="3100" b="1" dirty="0">
                <a:solidFill>
                  <a:srgbClr val="7E310B"/>
                </a:solidFill>
                <a:latin typeface="Poppins"/>
                <a:cs typeface="Poppins"/>
                <a:sym typeface="Poppins Bold"/>
              </a:rPr>
              <a:t>accepted by our external supervisor</a:t>
            </a:r>
            <a:r>
              <a:rPr lang="en-US" sz="3100" dirty="0">
                <a:solidFill>
                  <a:srgbClr val="7E310B"/>
                </a:solidFill>
                <a:latin typeface="Poppins"/>
                <a:cs typeface="Poppins"/>
                <a:sym typeface="Poppins Bold"/>
              </a:rPr>
              <a:t> &amp; </a:t>
            </a:r>
            <a:r>
              <a:rPr lang="en-US" sz="3100" b="1" dirty="0">
                <a:solidFill>
                  <a:srgbClr val="7E310B"/>
                </a:solidFill>
                <a:latin typeface="Poppins"/>
                <a:cs typeface="Poppins"/>
                <a:sym typeface="Poppins Bold"/>
              </a:rPr>
              <a:t>get future enhancement suggestions</a:t>
            </a:r>
          </a:p>
          <a:p>
            <a:pPr algn="ctr"/>
            <a:endParaRPr lang="en-US" sz="3100" b="1" dirty="0">
              <a:solidFill>
                <a:srgbClr val="7E310B"/>
              </a:solidFill>
              <a:latin typeface="Poppins"/>
              <a:cs typeface="Poppins"/>
              <a:sym typeface="Poppins Bold"/>
            </a:endParaRPr>
          </a:p>
          <a:p>
            <a:pPr algn="ctr"/>
            <a:r>
              <a:rPr lang="en-US" sz="3100" dirty="0">
                <a:solidFill>
                  <a:srgbClr val="7E310B"/>
                </a:solidFill>
                <a:latin typeface="Poppins"/>
                <a:cs typeface="Poppins"/>
                <a:sym typeface="Poppins Bold"/>
              </a:rPr>
              <a:t>Additionally, this research has been accepted for publication at the </a:t>
            </a:r>
            <a:r>
              <a:rPr lang="en-US" sz="3100" b="1" dirty="0">
                <a:solidFill>
                  <a:srgbClr val="7E310B"/>
                </a:solidFill>
                <a:latin typeface="Poppins"/>
                <a:cs typeface="Poppins"/>
                <a:sym typeface="Poppins Bold"/>
              </a:rPr>
              <a:t>CICN Conference</a:t>
            </a:r>
          </a:p>
          <a:p>
            <a:pPr algn="ctr"/>
            <a:endParaRPr lang="en-US" sz="3100" b="1" dirty="0">
              <a:solidFill>
                <a:srgbClr val="7E310B"/>
              </a:solidFill>
              <a:latin typeface="Poppins Bold"/>
              <a:ea typeface="Poppins Bold"/>
              <a:cs typeface="Poppins Bold"/>
              <a:sym typeface="Poppins Bold"/>
            </a:endParaRPr>
          </a:p>
          <a:p>
            <a:pPr algn="ctr"/>
            <a:r>
              <a:rPr lang="en-US" sz="3100" b="1" dirty="0">
                <a:solidFill>
                  <a:srgbClr val="7E310B"/>
                </a:solidFill>
                <a:latin typeface="Poppins"/>
                <a:cs typeface="Poppins"/>
                <a:sym typeface="Poppins Bold"/>
              </a:rPr>
              <a:t>Limitations of the System </a:t>
            </a:r>
            <a:r>
              <a:rPr lang="en-US" sz="3100" dirty="0">
                <a:solidFill>
                  <a:srgbClr val="7E310B"/>
                </a:solidFill>
                <a:latin typeface="Poppins"/>
                <a:cs typeface="Poppins"/>
                <a:sym typeface="Poppins Bold"/>
              </a:rPr>
              <a:t>- Currently limited to the property law domain only</a:t>
            </a:r>
          </a:p>
          <a:p>
            <a:pPr algn="ctr"/>
            <a:endParaRPr lang="en-US" sz="3100" b="1" dirty="0">
              <a:solidFill>
                <a:srgbClr val="7E310B"/>
              </a:solidFill>
              <a:latin typeface="Poppins Bold"/>
              <a:ea typeface="Poppins Bold"/>
              <a:cs typeface="Poppins Bold"/>
              <a:sym typeface="Poppins Bold"/>
            </a:endParaRPr>
          </a:p>
          <a:p>
            <a:pPr algn="ctr"/>
            <a:r>
              <a:rPr lang="en-US" sz="3100" b="1" dirty="0">
                <a:solidFill>
                  <a:srgbClr val="7E310B"/>
                </a:solidFill>
                <a:latin typeface="Poppins"/>
                <a:ea typeface="Poppins"/>
                <a:cs typeface="Poppins"/>
                <a:sym typeface="Poppins"/>
              </a:rPr>
              <a:t>Future Improvements </a:t>
            </a:r>
            <a:r>
              <a:rPr lang="en-US" sz="3100" dirty="0">
                <a:solidFill>
                  <a:srgbClr val="7E310B"/>
                </a:solidFill>
                <a:latin typeface="Poppins"/>
                <a:ea typeface="Poppins"/>
                <a:cs typeface="Poppins"/>
                <a:sym typeface="Poppins"/>
              </a:rPr>
              <a:t>- Expand system to support multiple legal domains, &amp; Integrate AI-based validation for identifying forged or suspicious documents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LK"/>
          </a:p>
        </p:txBody>
      </p:sp>
      <p:sp>
        <p:nvSpPr>
          <p:cNvPr id="3" name="Freeform 3"/>
          <p:cNvSpPr/>
          <p:nvPr/>
        </p:nvSpPr>
        <p:spPr>
          <a:xfrm>
            <a:off x="7849258" y="2624776"/>
            <a:ext cx="2589484" cy="2589484"/>
          </a:xfrm>
          <a:custGeom>
            <a:avLst/>
            <a:gdLst/>
            <a:ahLst/>
            <a:cxnLst/>
            <a:rect l="l" t="t" r="r" b="b"/>
            <a:pathLst>
              <a:path w="2589484" h="2589484">
                <a:moveTo>
                  <a:pt x="0" y="0"/>
                </a:moveTo>
                <a:lnTo>
                  <a:pt x="2589484" y="0"/>
                </a:lnTo>
                <a:lnTo>
                  <a:pt x="2589484" y="2589484"/>
                </a:lnTo>
                <a:lnTo>
                  <a:pt x="0" y="25894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LK"/>
          </a:p>
        </p:txBody>
      </p:sp>
      <p:sp>
        <p:nvSpPr>
          <p:cNvPr id="4" name="TextBox 4"/>
          <p:cNvSpPr txBox="1"/>
          <p:nvPr/>
        </p:nvSpPr>
        <p:spPr>
          <a:xfrm>
            <a:off x="5459013" y="5182867"/>
            <a:ext cx="7369974" cy="2479357"/>
          </a:xfrm>
          <a:prstGeom prst="rect">
            <a:avLst/>
          </a:prstGeom>
        </p:spPr>
        <p:txBody>
          <a:bodyPr lIns="0" tIns="0" rIns="0" bIns="0" rtlCol="0" anchor="t">
            <a:spAutoFit/>
          </a:bodyPr>
          <a:lstStyle/>
          <a:p>
            <a:pPr algn="l">
              <a:lnSpc>
                <a:spcPts val="20309"/>
              </a:lnSpc>
              <a:spcBef>
                <a:spcPct val="0"/>
              </a:spcBef>
            </a:pPr>
            <a:r>
              <a:rPr lang="en-US" sz="14507">
                <a:solidFill>
                  <a:srgbClr val="FFFFFF"/>
                </a:solidFill>
                <a:latin typeface="Anton"/>
                <a:ea typeface="Anton"/>
                <a:cs typeface="Anton"/>
                <a:sym typeface="Anto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42d1e402-c42d-419a-bd83-d8d365e28f1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8476C4981FE2047819081DBF807662E" ma:contentTypeVersion="11" ma:contentTypeDescription="Create a new document." ma:contentTypeScope="" ma:versionID="35d1a465f7d939b0268870cbb0fa9c53">
  <xsd:schema xmlns:xsd="http://www.w3.org/2001/XMLSchema" xmlns:xs="http://www.w3.org/2001/XMLSchema" xmlns:p="http://schemas.microsoft.com/office/2006/metadata/properties" xmlns:ns3="42d1e402-c42d-419a-bd83-d8d365e28f11" targetNamespace="http://schemas.microsoft.com/office/2006/metadata/properties" ma:root="true" ma:fieldsID="e17e80c5073245763190351ed82149cd" ns3:_="">
    <xsd:import namespace="42d1e402-c42d-419a-bd83-d8d365e28f11"/>
    <xsd:element name="properties">
      <xsd:complexType>
        <xsd:sequence>
          <xsd:element name="documentManagement">
            <xsd:complexType>
              <xsd:all>
                <xsd:element ref="ns3:MediaServiceMetadata" minOccurs="0"/>
                <xsd:element ref="ns3:MediaServiceFastMetadata" minOccurs="0"/>
                <xsd:element ref="ns3:_activity" minOccurs="0"/>
                <xsd:element ref="ns3:MediaServiceSearchProperties" minOccurs="0"/>
                <xsd:element ref="ns3:MediaServiceObjectDetectorVersions" minOccurs="0"/>
                <xsd:element ref="ns3:MediaServiceDateTaken"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d1e402-c42d-419a-bd83-d8d365e28f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B365DA-030E-4C4C-9E94-FD417C246E2E}">
  <ds:schemaRefs>
    <ds:schemaRef ds:uri="42d1e402-c42d-419a-bd83-d8d365e28f11"/>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AD804ABA-651D-4A1C-8193-7B4CF1100C16}">
  <ds:schemaRefs>
    <ds:schemaRef ds:uri="42d1e402-c42d-419a-bd83-d8d365e28f1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BC8759D-A268-494A-8677-2D27BD426FDB}">
  <ds:schemaRefs>
    <ds:schemaRef ds:uri="http://schemas.microsoft.com/sharepoint/v3/contenttype/forms"/>
  </ds:schemaRefs>
</ds:datastoreItem>
</file>

<file path=docMetadata/LabelInfo.xml><?xml version="1.0" encoding="utf-8"?>
<clbl:labelList xmlns:clbl="http://schemas.microsoft.com/office/2020/mipLabelMetadata">
  <clbl:label id="{44e3cf94-19c9-4e32-96c3-14f5bf01391a}" enabled="0" method="" siteId="{44e3cf94-19c9-4e32-96c3-14f5bf01391a}" removed="1"/>
</clbl:labelList>
</file>

<file path=docProps/app.xml><?xml version="1.0" encoding="utf-8"?>
<Properties xmlns="http://schemas.openxmlformats.org/officeDocument/2006/extended-properties" xmlns:vt="http://schemas.openxmlformats.org/officeDocument/2006/docPropsVTypes">
  <TotalTime>5</TotalTime>
  <Words>486</Words>
  <Application>Microsoft Office PowerPoint</Application>
  <PresentationFormat>Custom</PresentationFormat>
  <Paragraphs>46</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Anton</vt:lpstr>
      <vt:lpstr>Calibri</vt:lpstr>
      <vt:lpstr>Poppins Bold</vt:lpstr>
      <vt:lpstr>Fraunces Italics</vt:lpstr>
      <vt:lpstr>Poppins</vt:lpstr>
      <vt:lpstr>Arial</vt:lpstr>
      <vt:lpstr>Office Theme</vt:lpstr>
      <vt:lpstr>PowerPoint Presentation</vt:lpstr>
      <vt:lpstr>PowerPoint Presentation</vt:lpstr>
      <vt:lpstr>PowerPoint Presentation</vt:lpstr>
      <vt:lpstr>PowerPoint Presentation</vt:lpstr>
      <vt:lpstr>Visual INTEGRATED MULTI PERSPECTIVE LEGAL SUMMARIZER It22113504 | wicramasinghe d a t n</vt:lpstr>
      <vt:lpstr>Explainable Legal Reasoning Module IT22348784 | Sivanuja S</vt:lpstr>
      <vt:lpstr>Bias &amp; Risk Evaluator  IT22344892 | Maxwell L Y </vt:lpstr>
      <vt:lpstr>Legal Knowledge Graph  IT22732736 | Sharan 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Brown and White Modern Law Firm Presentation</dc:title>
  <dc:creator>Tharushi Nirmani</dc:creator>
  <cp:lastModifiedBy>tharsigan tharsi</cp:lastModifiedBy>
  <cp:revision>2</cp:revision>
  <dcterms:created xsi:type="dcterms:W3CDTF">2006-08-16T00:00:00Z</dcterms:created>
  <dcterms:modified xsi:type="dcterms:W3CDTF">2026-05-04T17:31:33Z</dcterms:modified>
  <dc:identifier>DAHDQvQcrt8</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0x01010018476C4981FE2047819081DBF807662E</vt:lpwstr>
  </property>
</Properties>
</file>